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07" r:id="rId7"/>
    <p:sldId id="319" r:id="rId8"/>
    <p:sldId id="320" r:id="rId9"/>
    <p:sldId id="281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1109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6893" y="1455968"/>
            <a:ext cx="5887610" cy="2596338"/>
          </a:xfrm>
        </p:spPr>
        <p:txBody>
          <a:bodyPr anchor="ctr"/>
          <a:lstStyle/>
          <a:p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Music Streaming Application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N.Thejasree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192524438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Course:csa0303-Data structures</a:t>
            </a:r>
            <a:br>
              <a:rPr lang="en-IN" sz="2800" b="0" dirty="0"/>
            </a:b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F2E95-BB71-03FE-3827-0211F6B0D054}"/>
              </a:ext>
            </a:extLst>
          </p:cNvPr>
          <p:cNvSpPr txBox="1"/>
          <p:nvPr/>
        </p:nvSpPr>
        <p:spPr>
          <a:xfrm>
            <a:off x="2899790" y="235974"/>
            <a:ext cx="6322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PLAYLIST MANAGEMENT USING DOUBLY LINKED LIST</a:t>
            </a:r>
            <a:b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780" y="47786"/>
            <a:ext cx="5909187" cy="818825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1753092"/>
            <a:ext cx="6735097" cy="4274082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music streaming application needs to manage playlists </a:t>
            </a:r>
          </a:p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users can: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songs dynamically 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existing songs 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songs 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to the next and previous songs 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playlists of varying sizes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74174-0E39-B931-B989-4AEBFE9397EC}"/>
              </a:ext>
            </a:extLst>
          </p:cNvPr>
          <p:cNvSpPr txBox="1"/>
          <p:nvPr/>
        </p:nvSpPr>
        <p:spPr>
          <a:xfrm>
            <a:off x="6892413" y="1989066"/>
            <a:ext cx="52110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structure should be:</a:t>
            </a: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</a:t>
            </a: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</a:t>
            </a: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efficient </a:t>
            </a: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for insertion and deletion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233" y="196951"/>
            <a:ext cx="7080101" cy="1209062"/>
          </a:xfrm>
        </p:spPr>
        <p:txBody>
          <a:bodyPr/>
          <a:lstStyle/>
          <a:p>
            <a:pPr algn="ctr"/>
            <a:r>
              <a:rPr lang="en-IN" sz="2800" dirty="0"/>
              <a:t>Recommended Data Structure – Doubly Linked List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A7B5E-A0BC-16BA-43DF-E2655C833BCA}"/>
              </a:ext>
            </a:extLst>
          </p:cNvPr>
          <p:cNvSpPr txBox="1"/>
          <p:nvPr/>
        </p:nvSpPr>
        <p:spPr>
          <a:xfrm>
            <a:off x="806246" y="1428726"/>
            <a:ext cx="85049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Definition</a:t>
            </a:r>
          </a:p>
          <a:p>
            <a:r>
              <a:rPr lang="en-IN" sz="2000" dirty="0">
                <a:solidFill>
                  <a:srgbClr val="002060"/>
                </a:solidFill>
              </a:rPr>
              <a:t>A </a:t>
            </a:r>
            <a:r>
              <a:rPr lang="en-IN" sz="2000" b="1" dirty="0">
                <a:solidFill>
                  <a:srgbClr val="002060"/>
                </a:solidFill>
              </a:rPr>
              <a:t>Doubly Linked List (DLL)</a:t>
            </a:r>
            <a:r>
              <a:rPr lang="en-IN" sz="2000" dirty="0">
                <a:solidFill>
                  <a:srgbClr val="002060"/>
                </a:solidFill>
              </a:rPr>
              <a:t> is a linear data structure where each node contains: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Song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Pointer to the previous node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Pointer to the next node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A8CE7-D3C6-515D-005A-99C4AAD6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6" y="3195484"/>
            <a:ext cx="10864644" cy="14355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4F5F2E-3BA9-7D19-EAFE-5132FF21BA89}"/>
              </a:ext>
            </a:extLst>
          </p:cNvPr>
          <p:cNvSpPr txBox="1"/>
          <p:nvPr/>
        </p:nvSpPr>
        <p:spPr>
          <a:xfrm>
            <a:off x="806246" y="4559709"/>
            <a:ext cx="690224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Supports forward and backward navigation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Efficient insertion and deletion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Easy song reordering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</a:rPr>
              <a:t>Dynamically adjusts to playlist size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408" y="202521"/>
            <a:ext cx="9879437" cy="980844"/>
          </a:xfrm>
        </p:spPr>
        <p:txBody>
          <a:bodyPr/>
          <a:lstStyle/>
          <a:p>
            <a:r>
              <a:rPr lang="en-IN" dirty="0"/>
              <a:t>Comparison &amp; Performance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6257" y="1203470"/>
            <a:ext cx="4368466" cy="458182"/>
          </a:xfrm>
        </p:spPr>
        <p:txBody>
          <a:bodyPr/>
          <a:lstStyle/>
          <a:p>
            <a:r>
              <a:rPr lang="en-IN" dirty="0"/>
              <a:t>Singly Linked List vs Doubly Linked List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BB08E8C-75EC-7020-F9CB-0C14A7C6B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124776"/>
              </p:ext>
            </p:extLst>
          </p:nvPr>
        </p:nvGraphicFramePr>
        <p:xfrm>
          <a:off x="1389677" y="2254535"/>
          <a:ext cx="10671174" cy="2916355"/>
        </p:xfrm>
        <a:graphic>
          <a:graphicData uri="http://schemas.openxmlformats.org/drawingml/2006/table">
            <a:tbl>
              <a:tblPr/>
              <a:tblGrid>
                <a:gridCol w="3557058">
                  <a:extLst>
                    <a:ext uri="{9D8B030D-6E8A-4147-A177-3AD203B41FA5}">
                      <a16:colId xmlns:a16="http://schemas.microsoft.com/office/drawing/2014/main" val="3706127907"/>
                    </a:ext>
                  </a:extLst>
                </a:gridCol>
                <a:gridCol w="3557058">
                  <a:extLst>
                    <a:ext uri="{9D8B030D-6E8A-4147-A177-3AD203B41FA5}">
                      <a16:colId xmlns:a16="http://schemas.microsoft.com/office/drawing/2014/main" val="1531417983"/>
                    </a:ext>
                  </a:extLst>
                </a:gridCol>
                <a:gridCol w="3557058">
                  <a:extLst>
                    <a:ext uri="{9D8B030D-6E8A-4147-A177-3AD203B41FA5}">
                      <a16:colId xmlns:a16="http://schemas.microsoft.com/office/drawing/2014/main" val="563415744"/>
                    </a:ext>
                  </a:extLst>
                </a:gridCol>
              </a:tblGrid>
              <a:tr h="1087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Singly 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Doubly 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074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Traversal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Forward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Forward &amp; Backward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5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Previous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04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Insertion &amp; Deletion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61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66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 Music Playlist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10243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C4E2FA4-40EC-2E5D-B9C4-8EE65DDDF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522"/>
              </p:ext>
            </p:extLst>
          </p:nvPr>
        </p:nvGraphicFramePr>
        <p:xfrm>
          <a:off x="1150374" y="2595716"/>
          <a:ext cx="9651948" cy="272419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17316">
                  <a:extLst>
                    <a:ext uri="{9D8B030D-6E8A-4147-A177-3AD203B41FA5}">
                      <a16:colId xmlns:a16="http://schemas.microsoft.com/office/drawing/2014/main" val="1760872361"/>
                    </a:ext>
                  </a:extLst>
                </a:gridCol>
                <a:gridCol w="3217316">
                  <a:extLst>
                    <a:ext uri="{9D8B030D-6E8A-4147-A177-3AD203B41FA5}">
                      <a16:colId xmlns:a16="http://schemas.microsoft.com/office/drawing/2014/main" val="63659719"/>
                    </a:ext>
                  </a:extLst>
                </a:gridCol>
                <a:gridCol w="3217316">
                  <a:extLst>
                    <a:ext uri="{9D8B030D-6E8A-4147-A177-3AD203B41FA5}">
                      <a16:colId xmlns:a16="http://schemas.microsoft.com/office/drawing/2014/main" val="1422982503"/>
                    </a:ext>
                  </a:extLst>
                </a:gridCol>
              </a:tblGrid>
              <a:tr h="45556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29927"/>
                  </a:ext>
                </a:extLst>
              </a:tr>
              <a:tr h="62598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947743"/>
                  </a:ext>
                </a:extLst>
              </a:tr>
              <a:tr h="45556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754503"/>
                  </a:ext>
                </a:extLst>
              </a:tr>
              <a:tr h="34085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73254"/>
                  </a:ext>
                </a:extLst>
              </a:tr>
              <a:tr h="32905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001220"/>
                  </a:ext>
                </a:extLst>
              </a:tr>
              <a:tr h="45556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911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2C835-D624-17B0-DEF9-379D06B64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6FC8A-6AEC-BDDC-54F9-6E21384E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458" y="1422741"/>
            <a:ext cx="8760542" cy="53497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01E018-5258-9267-5F99-DB7A33D358D1}"/>
              </a:ext>
            </a:extLst>
          </p:cNvPr>
          <p:cNvSpPr txBox="1"/>
          <p:nvPr/>
        </p:nvSpPr>
        <p:spPr>
          <a:xfrm>
            <a:off x="4130491" y="420382"/>
            <a:ext cx="7295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SINGLY AND DOUBLY-LINKED LISTS</a:t>
            </a:r>
          </a:p>
        </p:txBody>
      </p:sp>
    </p:spTree>
    <p:extLst>
      <p:ext uri="{BB962C8B-B14F-4D97-AF65-F5344CB8AC3E}">
        <p14:creationId xmlns:p14="http://schemas.microsoft.com/office/powerpoint/2010/main" val="21637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22" y="580103"/>
            <a:ext cx="3814917" cy="769774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09" y="1560823"/>
            <a:ext cx="11481873" cy="5010787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Recommendation</a:t>
            </a:r>
          </a:p>
          <a:p>
            <a:r>
              <a:rPr lang="en-IN" dirty="0"/>
              <a:t>A </a:t>
            </a:r>
            <a:r>
              <a:rPr lang="en-IN" b="1" dirty="0"/>
              <a:t>Doubly Linked List</a:t>
            </a:r>
            <a:r>
              <a:rPr lang="en-IN" dirty="0"/>
              <a:t> is the most suitable data structure for a music streaming playlist because it: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Supports dynamic playlist updates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Enables efficient insertion and deletion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Allows easy song reordering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Provides both </a:t>
            </a:r>
            <a:r>
              <a:rPr lang="en-IN" b="1" dirty="0"/>
              <a:t>Next</a:t>
            </a:r>
            <a:r>
              <a:rPr lang="en-IN" dirty="0"/>
              <a:t> and </a:t>
            </a:r>
            <a:r>
              <a:rPr lang="en-IN" b="1" dirty="0"/>
              <a:t>Previous</a:t>
            </a:r>
            <a:r>
              <a:rPr lang="en-IN" dirty="0"/>
              <a:t> navigation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Improves flexibility and user experience</a:t>
            </a:r>
          </a:p>
          <a:p>
            <a:r>
              <a:rPr lang="en-IN" b="1" dirty="0"/>
              <a:t>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Music streaming playlists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Browser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Undo/Redo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Image viewers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Media players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C0BF04-5297-7D38-A559-2687A0613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63" y="2257064"/>
            <a:ext cx="4930815" cy="452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025" y="2378393"/>
            <a:ext cx="3680749" cy="1332002"/>
          </a:xfrm>
        </p:spPr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{70A31B46-B6ED-4B7D-8F46-A9979851F58C}TF8a9b5915-b8c7-461e-8cdd-693d48b5e32371f7b7e2_win32-4bf0b9a2ea37</Template>
  <TotalTime>133</TotalTime>
  <Words>256</Words>
  <Application>Microsoft Office PowerPoint</Application>
  <PresentationFormat>Widescreen</PresentationFormat>
  <Paragraphs>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Times New Roman</vt:lpstr>
      <vt:lpstr>Custom</vt:lpstr>
      <vt:lpstr>Case Study: Music Streaming Application Presented By: Name : N.Thejasree  Roll No: 192524438 Course:csa0303-Data structures  </vt:lpstr>
      <vt:lpstr>Problem Statement</vt:lpstr>
      <vt:lpstr>Recommended Data Structure – Doubly Linked List</vt:lpstr>
      <vt:lpstr>Comparison &amp; Performance</vt:lpstr>
      <vt:lpstr>PowerPoint Presentation</vt:lpstr>
      <vt:lpstr>Conclusion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THEJA SREE N</dc:creator>
  <cp:lastModifiedBy>THEJA SREE N</cp:lastModifiedBy>
  <cp:revision>2</cp:revision>
  <dcterms:created xsi:type="dcterms:W3CDTF">2026-07-22T17:02:07Z</dcterms:created>
  <dcterms:modified xsi:type="dcterms:W3CDTF">2026-07-23T07:20:38Z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